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sldIdLst>
    <p:sldId id="265" r:id="rId2"/>
    <p:sldId id="257" r:id="rId3"/>
    <p:sldId id="272" r:id="rId4"/>
    <p:sldId id="258" r:id="rId5"/>
    <p:sldId id="259" r:id="rId6"/>
    <p:sldId id="260" r:id="rId7"/>
    <p:sldId id="271" r:id="rId8"/>
    <p:sldId id="261" r:id="rId9"/>
    <p:sldId id="269" r:id="rId10"/>
    <p:sldId id="266" r:id="rId11"/>
    <p:sldId id="270" r:id="rId12"/>
    <p:sldId id="267" r:id="rId13"/>
    <p:sldId id="268" r:id="rId14"/>
    <p:sldId id="262" r:id="rId15"/>
    <p:sldId id="263" r:id="rId16"/>
    <p:sldId id="264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7" d="100"/>
          <a:sy n="117" d="100"/>
        </p:scale>
        <p:origin x="612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ndana Vadathala" userId="31b76fda27e54b2f" providerId="LiveId" clId="{B969C9EB-4C52-490A-9D4E-75DEF6A3F1D0}"/>
    <pc:docChg chg="modSld">
      <pc:chgData name="Chandana Vadathala" userId="31b76fda27e54b2f" providerId="LiveId" clId="{B969C9EB-4C52-490A-9D4E-75DEF6A3F1D0}" dt="2026-03-26T13:25:48.528" v="7" actId="20577"/>
      <pc:docMkLst>
        <pc:docMk/>
      </pc:docMkLst>
      <pc:sldChg chg="modSp mod">
        <pc:chgData name="Chandana Vadathala" userId="31b76fda27e54b2f" providerId="LiveId" clId="{B969C9EB-4C52-490A-9D4E-75DEF6A3F1D0}" dt="2026-03-26T13:17:52.971" v="0" actId="113"/>
        <pc:sldMkLst>
          <pc:docMk/>
          <pc:sldMk cId="0" sldId="257"/>
        </pc:sldMkLst>
        <pc:graphicFrameChg chg="modGraphic">
          <ac:chgData name="Chandana Vadathala" userId="31b76fda27e54b2f" providerId="LiveId" clId="{B969C9EB-4C52-490A-9D4E-75DEF6A3F1D0}" dt="2026-03-26T13:17:52.971" v="0" actId="113"/>
          <ac:graphicFrameMkLst>
            <pc:docMk/>
            <pc:sldMk cId="0" sldId="257"/>
            <ac:graphicFrameMk id="8" creationId="{DD7B9F99-6266-4ECD-2F09-8117576E9BB0}"/>
          </ac:graphicFrameMkLst>
        </pc:graphicFrameChg>
      </pc:sldChg>
      <pc:sldChg chg="modSp mod">
        <pc:chgData name="Chandana Vadathala" userId="31b76fda27e54b2f" providerId="LiveId" clId="{B969C9EB-4C52-490A-9D4E-75DEF6A3F1D0}" dt="2026-03-26T13:25:48.528" v="7" actId="20577"/>
        <pc:sldMkLst>
          <pc:docMk/>
          <pc:sldMk cId="0" sldId="262"/>
        </pc:sldMkLst>
        <pc:graphicFrameChg chg="modGraphic">
          <ac:chgData name="Chandana Vadathala" userId="31b76fda27e54b2f" providerId="LiveId" clId="{B969C9EB-4C52-490A-9D4E-75DEF6A3F1D0}" dt="2026-03-26T13:25:48.528" v="7" actId="20577"/>
          <ac:graphicFrameMkLst>
            <pc:docMk/>
            <pc:sldMk cId="0" sldId="262"/>
            <ac:graphicFrameMk id="4" creationId="{1FBDFDA3-C879-25D1-46A5-83775C204D35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14" name="Freeform 6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0" t="0" r="r" b="b"/>
              <a:pathLst>
                <a:path w="860" h="2502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7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0" t="0" r="r" b="b"/>
              <a:pathLst>
                <a:path w="842" h="2433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8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0" t="0" r="r" b="b"/>
              <a:pathLst>
                <a:path w="1220" h="1941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9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Freeform 10"/>
            <p:cNvSpPr/>
            <p:nvPr/>
          </p:nvSpPr>
          <p:spPr bwMode="auto">
            <a:xfrm>
              <a:off x="641350" y="3881438"/>
              <a:ext cx="3340100" cy="2976563"/>
            </a:xfrm>
            <a:custGeom>
              <a:avLst/>
              <a:gdLst/>
              <a:ahLst/>
              <a:cxnLst/>
              <a:rect l="0" t="0" r="r" b="b"/>
              <a:pathLst>
                <a:path w="2104" h="1875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Freeform 11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9673" y="914401"/>
            <a:ext cx="6947127" cy="3488266"/>
          </a:xfrm>
        </p:spPr>
        <p:txBody>
          <a:bodyPr anchor="b">
            <a:normAutofit/>
          </a:bodyPr>
          <a:lstStyle>
            <a:lvl1pPr algn="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364531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25773" y="6117336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23733" y="6117336"/>
            <a:ext cx="36094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5320" y="6117336"/>
            <a:ext cx="41148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reeform 1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0" t="0" r="r" b="b"/>
            <a:pathLst>
              <a:path w="228" h="57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4" name="Freeform 13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0" t="0" r="r" b="b"/>
            <a:pathLst>
              <a:path w="39" h="51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1617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667000"/>
            <a:ext cx="7704667" cy="333281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44329" y="6108173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72647" y="6108173"/>
            <a:ext cx="5314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8967" y="6108173"/>
            <a:ext cx="42783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9428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6995" y="2666998"/>
            <a:ext cx="6699805" cy="2360071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998" y="5027070"/>
            <a:ext cx="6699802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3317" y="6116070"/>
            <a:ext cx="413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655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685801"/>
            <a:ext cx="7704667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2133" y="2667000"/>
            <a:ext cx="3739896" cy="336867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46904" y="2667000"/>
            <a:ext cx="3739896" cy="334682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140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481" y="2658533"/>
            <a:ext cx="345629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523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1710" y="2667000"/>
            <a:ext cx="3467806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7266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082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813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626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1600200"/>
            <a:ext cx="2662534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7553" y="685800"/>
            <a:ext cx="4681962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4" y="2971800"/>
            <a:ext cx="2662534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925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332" y="1752599"/>
            <a:ext cx="4070679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332" y="3124199"/>
            <a:ext cx="4070679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15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3" y="4732865"/>
            <a:ext cx="751599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3" y="5299603"/>
            <a:ext cx="751599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981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685800"/>
            <a:ext cx="751599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8607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598235" y="3428999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3" y="4343400"/>
            <a:ext cx="751599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494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3308581"/>
            <a:ext cx="751598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7381"/>
            <a:ext cx="751599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4555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5" y="3886200"/>
            <a:ext cx="751599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5200"/>
            <a:ext cx="751599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9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685801"/>
            <a:ext cx="7515991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4" y="3505200"/>
            <a:ext cx="7515992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406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2979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01393" y="685800"/>
            <a:ext cx="1328123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524" y="685800"/>
            <a:ext cx="6016373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204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5" name="Freeform 6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0" t="0" r="r" b="b"/>
              <a:pathLst>
                <a:path w="676" h="3333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7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0" t="0" r="r" b="b"/>
              <a:pathLst>
                <a:path w="478" h="2913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8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0" t="0" r="r" b="b"/>
              <a:pathLst>
                <a:path w="571" h="753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9"/>
            <p:cNvSpPr/>
            <p:nvPr/>
          </p:nvSpPr>
          <p:spPr bwMode="auto">
            <a:xfrm>
              <a:off x="0" y="5295900"/>
              <a:ext cx="1487488" cy="1562100"/>
            </a:xfrm>
            <a:custGeom>
              <a:avLst/>
              <a:gdLst/>
              <a:ahLst/>
              <a:cxnLst/>
              <a:rect l="0" t="0" r="r" b="b"/>
              <a:pathLst>
                <a:path w="937" h="984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10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0" t="0" r="r" b="b"/>
              <a:pathLst>
                <a:path w="868" h="945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134" y="2667000"/>
            <a:ext cx="7704666" cy="3356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8679" y="6116070"/>
            <a:ext cx="8574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86997" y="6116070"/>
            <a:ext cx="5314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3317" y="611607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063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4A1CBDE-8663-32A2-F41C-49D8204414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7714" y="-141513"/>
            <a:ext cx="9209315" cy="687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66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3647" y="76200"/>
            <a:ext cx="7704667" cy="1981200"/>
          </a:xfrm>
        </p:spPr>
        <p:txBody>
          <a:bodyPr/>
          <a:lstStyle/>
          <a:p>
            <a:r>
              <a:rPr lang="en-IN" b="1" dirty="0"/>
              <a:t>Meet the Team</a:t>
            </a:r>
            <a:endParaRPr b="1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DD7B9F99-6266-4ECD-2F09-8117576E9BB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7037529"/>
              </p:ext>
            </p:extLst>
          </p:nvPr>
        </p:nvGraphicFramePr>
        <p:xfrm>
          <a:off x="1436914" y="1698170"/>
          <a:ext cx="7304316" cy="4071260"/>
        </p:xfrm>
        <a:graphic>
          <a:graphicData uri="http://schemas.openxmlformats.org/drawingml/2006/table">
            <a:tbl>
              <a:tblPr/>
              <a:tblGrid>
                <a:gridCol w="2434772">
                  <a:extLst>
                    <a:ext uri="{9D8B030D-6E8A-4147-A177-3AD203B41FA5}">
                      <a16:colId xmlns:a16="http://schemas.microsoft.com/office/drawing/2014/main" val="610104185"/>
                    </a:ext>
                  </a:extLst>
                </a:gridCol>
                <a:gridCol w="2420257">
                  <a:extLst>
                    <a:ext uri="{9D8B030D-6E8A-4147-A177-3AD203B41FA5}">
                      <a16:colId xmlns:a16="http://schemas.microsoft.com/office/drawing/2014/main" val="3914381819"/>
                    </a:ext>
                  </a:extLst>
                </a:gridCol>
                <a:gridCol w="2449287">
                  <a:extLst>
                    <a:ext uri="{9D8B030D-6E8A-4147-A177-3AD203B41FA5}">
                      <a16:colId xmlns:a16="http://schemas.microsoft.com/office/drawing/2014/main" val="2574651420"/>
                    </a:ext>
                  </a:extLst>
                </a:gridCol>
              </a:tblGrid>
              <a:tr h="81425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Name</a:t>
                      </a:r>
                      <a:endParaRPr lang="en-IN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Role</a:t>
                      </a:r>
                      <a:endParaRPr lang="en-IN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Core Tech / Focus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834371"/>
                  </a:ext>
                </a:extLst>
              </a:tr>
              <a:tr h="81425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Vadathala Chandana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Frontend Lead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React.js, Tailwind CSS</a:t>
                      </a: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504554"/>
                  </a:ext>
                </a:extLst>
              </a:tr>
              <a:tr h="81425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Tavishi</a:t>
                      </a:r>
                      <a:endParaRPr lang="en-IN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Backend Developer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Admin Dashboard</a:t>
                      </a: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028582"/>
                  </a:ext>
                </a:extLst>
              </a:tr>
              <a:tr h="81425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/>
                        <a:t>Shekhar Shelke</a:t>
                      </a:r>
                      <a:endParaRPr lang="en-IN" b="1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Backend Developer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Owner Dashboard</a:t>
                      </a: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8904572"/>
                  </a:ext>
                </a:extLst>
              </a:tr>
              <a:tr h="81425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Cherukuri Puneeth</a:t>
                      </a:r>
                      <a:endParaRPr lang="en-IN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Backend Developer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User Dashboard</a:t>
                      </a: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962777"/>
                  </a:ext>
                </a:extLst>
              </a:tr>
            </a:tbl>
          </a:graphicData>
        </a:graphic>
      </p:graphicFrame>
      <p:sp>
        <p:nvSpPr>
          <p:cNvPr id="7" name="AutoShape 4">
            <a:extLst>
              <a:ext uri="{FF2B5EF4-FFF2-40B4-BE49-F238E27FC236}">
                <a16:creationId xmlns:a16="http://schemas.microsoft.com/office/drawing/2014/main" id="{D46B7B3E-DFBA-1D38-F7CB-FA6544B5E0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EA3DC-1CF2-B44A-E194-7AF38636C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133" y="87086"/>
            <a:ext cx="7704667" cy="957943"/>
          </a:xfrm>
        </p:spPr>
        <p:txBody>
          <a:bodyPr>
            <a:normAutofit/>
          </a:bodyPr>
          <a:lstStyle/>
          <a:p>
            <a:r>
              <a:rPr lang="en-IN" b="1" dirty="0"/>
              <a:t>The Parking Crisis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F03EF-E78E-41BA-4BF7-8574973DF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2133" y="1447800"/>
            <a:ext cx="7704667" cy="4552016"/>
          </a:xfrm>
        </p:spPr>
        <p:txBody>
          <a:bodyPr>
            <a:normAutofit/>
          </a:bodyPr>
          <a:lstStyle/>
          <a:p>
            <a:r>
              <a:rPr lang="en-US" dirty="0"/>
              <a:t>Driving in the city shouldn't feel like a scavenger hunt. Current systems are failing because:</a:t>
            </a:r>
          </a:p>
          <a:p>
            <a:r>
              <a:rPr lang="en-US" b="1" dirty="0"/>
              <a:t>Wasted Time:</a:t>
            </a:r>
            <a:r>
              <a:rPr lang="en-US" dirty="0"/>
              <a:t> Drivers spend an average of 15–20 minutes just circling for a spot.</a:t>
            </a:r>
          </a:p>
          <a:p>
            <a:r>
              <a:rPr lang="en-US" b="1" dirty="0"/>
              <a:t>Manual Inefficiency:</a:t>
            </a:r>
            <a:r>
              <a:rPr lang="en-US" dirty="0"/>
              <a:t> Current lots rely on outdated, paper-based, or manual tracking.</a:t>
            </a:r>
          </a:p>
          <a:p>
            <a:r>
              <a:rPr lang="en-US" b="1" dirty="0"/>
              <a:t>Zero Visibility:</a:t>
            </a:r>
            <a:r>
              <a:rPr lang="en-US" dirty="0"/>
              <a:t> Drivers have no way to know if a lot is full until they arrive.</a:t>
            </a:r>
          </a:p>
          <a:p>
            <a:r>
              <a:rPr lang="en-US" b="1" dirty="0"/>
              <a:t>Traffic Congestion:</a:t>
            </a:r>
            <a:r>
              <a:rPr lang="en-US" dirty="0"/>
              <a:t> 30% of urban traffic is caused by drivers looking for parking.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449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-674913"/>
            <a:ext cx="7704667" cy="2264228"/>
          </a:xfrm>
        </p:spPr>
        <p:txBody>
          <a:bodyPr/>
          <a:lstStyle/>
          <a:p>
            <a:r>
              <a:rPr lang="en-IN" b="1" dirty="0"/>
              <a:t>The Mission of ParkZen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47800" y="729343"/>
            <a:ext cx="7239000" cy="5270473"/>
          </a:xfrm>
        </p:spPr>
        <p:txBody>
          <a:bodyPr>
            <a:normAutofit/>
          </a:bodyPr>
          <a:lstStyle/>
          <a:p>
            <a:r>
              <a:rPr lang="en-US" sz="2000" b="1" dirty="0"/>
              <a:t>Maximize Efficiency:</a:t>
            </a:r>
            <a:r>
              <a:rPr lang="en-US" sz="2000" dirty="0"/>
              <a:t> Drastically reduce the time drivers spend searching for spots through precision tracking</a:t>
            </a:r>
          </a:p>
          <a:p>
            <a:r>
              <a:rPr lang="en-US" sz="2000" b="1" dirty="0"/>
              <a:t>Live Visibility:</a:t>
            </a:r>
            <a:r>
              <a:rPr lang="en-US" sz="2000" dirty="0"/>
              <a:t> Deliver 100% accurate, real-time data on parking availability to eliminate guesswork.</a:t>
            </a:r>
          </a:p>
          <a:p>
            <a:r>
              <a:rPr lang="en-US" sz="2000" b="1" dirty="0"/>
              <a:t>Seamless Transactions:</a:t>
            </a:r>
            <a:r>
              <a:rPr lang="en-US" sz="2000" dirty="0"/>
              <a:t> Integrated secure booking and automated payments for a "one-tap" user experience.</a:t>
            </a:r>
          </a:p>
          <a:p>
            <a:r>
              <a:rPr lang="en-US" sz="2000" b="1" dirty="0"/>
              <a:t>Operational Intelligence:</a:t>
            </a:r>
            <a:r>
              <a:rPr lang="en-US" sz="2000" dirty="0"/>
              <a:t> Empower lot owners with data-driven tools to optimize space and revenue.</a:t>
            </a:r>
          </a:p>
          <a:p>
            <a:r>
              <a:rPr lang="en-US" sz="2000" b="1" dirty="0"/>
              <a:t>Urban Sustainability:</a:t>
            </a:r>
            <a:r>
              <a:rPr lang="en-US" sz="2000" dirty="0"/>
              <a:t> Help decrease city traffic congestion and carbon emissions by streamlining vehicle flow.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54DA26-28C9-F1C3-CA15-CAC0738DE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8971" y="206828"/>
            <a:ext cx="8501743" cy="64443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-504497"/>
            <a:ext cx="7704667" cy="1923394"/>
          </a:xfrm>
        </p:spPr>
        <p:txBody>
          <a:bodyPr/>
          <a:lstStyle/>
          <a:p>
            <a:r>
              <a:rPr lang="en-IN" b="1" dirty="0"/>
              <a:t>Our Technology Stack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3792" y="1418897"/>
            <a:ext cx="3394549" cy="4406462"/>
          </a:xfrm>
        </p:spPr>
        <p:txBody>
          <a:bodyPr>
            <a:normAutofit/>
          </a:bodyPr>
          <a:lstStyle/>
          <a:p>
            <a:r>
              <a:rPr dirty="0"/>
              <a:t>Frontend: React.js, Tailwind CSS</a:t>
            </a:r>
          </a:p>
          <a:p>
            <a:r>
              <a:rPr dirty="0"/>
              <a:t>Backend: Spring Boot</a:t>
            </a:r>
          </a:p>
          <a:p>
            <a:r>
              <a:rPr dirty="0"/>
              <a:t>Database: MySQL</a:t>
            </a:r>
          </a:p>
          <a:p>
            <a:r>
              <a:rPr dirty="0"/>
              <a:t>Maps: Google Maps API</a:t>
            </a:r>
          </a:p>
          <a:p>
            <a:r>
              <a:rPr dirty="0"/>
              <a:t>Cloud: AWS / Azure</a:t>
            </a:r>
          </a:p>
          <a:p>
            <a:r>
              <a:rPr dirty="0"/>
              <a:t>QR Code: </a:t>
            </a:r>
            <a:r>
              <a:rPr dirty="0" err="1"/>
              <a:t>QRCode.react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82F88B-7A88-D9CA-2C7D-76F55C7CD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673" y="1211317"/>
            <a:ext cx="6894786" cy="55047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CEE6E-3A89-FAFF-1AE3-98782694E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1876" y="402770"/>
            <a:ext cx="7704667" cy="1371601"/>
          </a:xfrm>
        </p:spPr>
        <p:txBody>
          <a:bodyPr/>
          <a:lstStyle/>
          <a:p>
            <a:r>
              <a:rPr lang="en-IN" dirty="0"/>
              <a:t>The </a:t>
            </a:r>
            <a:r>
              <a:rPr lang="en-IN" dirty="0" err="1"/>
              <a:t>ParkZen</a:t>
            </a:r>
            <a:r>
              <a:rPr lang="en-IN" dirty="0"/>
              <a:t> AI Ecosystem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D4DF0-654E-805A-9053-D132016C4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276" y="1872343"/>
            <a:ext cx="7704667" cy="3332816"/>
          </a:xfrm>
        </p:spPr>
        <p:txBody>
          <a:bodyPr/>
          <a:lstStyle/>
          <a:p>
            <a:r>
              <a:rPr lang="en-IN" dirty="0"/>
              <a:t>Predictive Heatmaps :  Context-Aware Analytics</a:t>
            </a:r>
          </a:p>
          <a:p>
            <a:r>
              <a:rPr lang="en-IN" dirty="0"/>
              <a:t>Vision Intelligence :  YOLO-Based Detection</a:t>
            </a:r>
          </a:p>
          <a:p>
            <a:r>
              <a:rPr lang="en-IN" dirty="0"/>
              <a:t>Conversational Interface: </a:t>
            </a:r>
          </a:p>
          <a:p>
            <a:pPr marL="0" indent="0">
              <a:buNone/>
            </a:pPr>
            <a:r>
              <a:rPr lang="en-IN" dirty="0"/>
              <a:t>                  AI Chatbot </a:t>
            </a:r>
          </a:p>
          <a:p>
            <a:pPr marL="0" indent="0">
              <a:buNone/>
            </a:pPr>
            <a:r>
              <a:rPr lang="en-IN" dirty="0"/>
              <a:t>                 Voice Recognition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0217DBE-FB49-C275-5D15-6D114BD8D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2855" y="3678621"/>
            <a:ext cx="1333688" cy="139787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BDB581C2-08E7-90B8-5074-1D8CD14CF0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60276" y="3804745"/>
            <a:ext cx="1618593" cy="1271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110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9536" y="-289033"/>
            <a:ext cx="7704667" cy="915898"/>
          </a:xfrm>
        </p:spPr>
        <p:txBody>
          <a:bodyPr>
            <a:normAutofit/>
          </a:bodyPr>
          <a:lstStyle/>
          <a:p>
            <a:r>
              <a:rPr sz="3200" dirty="0"/>
              <a:t>Screenshots of the Project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5CBCC29-E8E8-D03A-4567-265E7CDEE9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1822" y="381000"/>
            <a:ext cx="6003264" cy="33310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E20D1F-137A-5B3F-0BE5-2907C046BF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202" t="4777" r="9139" b="8311"/>
          <a:stretch>
            <a:fillRect/>
          </a:stretch>
        </p:blipFill>
        <p:spPr>
          <a:xfrm>
            <a:off x="4365171" y="3897085"/>
            <a:ext cx="3630576" cy="28629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E920D4B-D7A8-1EBC-F449-6F92D787BF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2228" y="489859"/>
            <a:ext cx="7304315" cy="5421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563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1B5D15-E7A8-9714-F237-9E46B5766B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71" t="13549" r="7216" b="8604"/>
          <a:stretch>
            <a:fillRect/>
          </a:stretch>
        </p:blipFill>
        <p:spPr>
          <a:xfrm>
            <a:off x="1287143" y="1349828"/>
            <a:ext cx="2403605" cy="43407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00A6AB-8F17-4542-3E9C-2E8B910115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89" t="2453" r="10565" b="50000"/>
          <a:stretch>
            <a:fillRect/>
          </a:stretch>
        </p:blipFill>
        <p:spPr>
          <a:xfrm>
            <a:off x="3864429" y="1578429"/>
            <a:ext cx="5279571" cy="4112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342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48E3DAB-4247-30B3-C3CD-BF386999CA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8606" y="435430"/>
            <a:ext cx="7704137" cy="31024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230B4E-9AE6-B3CF-0E22-75B93499B2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22" r="54519" b="10269"/>
          <a:stretch>
            <a:fillRect/>
          </a:stretch>
        </p:blipFill>
        <p:spPr>
          <a:xfrm>
            <a:off x="3561878" y="3855044"/>
            <a:ext cx="3655350" cy="278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91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931FF3-0C37-2288-B04A-6A2C5E5519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53" t="18085" r="13843" b="5517"/>
          <a:stretch>
            <a:fillRect/>
          </a:stretch>
        </p:blipFill>
        <p:spPr>
          <a:xfrm>
            <a:off x="5055475" y="515007"/>
            <a:ext cx="3993932" cy="5665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74968B-BC1D-3A27-CBDE-82478EB650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628" t="8277" r="13108" b="16781"/>
          <a:stretch>
            <a:fillRect/>
          </a:stretch>
        </p:blipFill>
        <p:spPr>
          <a:xfrm>
            <a:off x="846832" y="1579179"/>
            <a:ext cx="3993932" cy="3699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948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97EA516-8D66-799B-38C4-50A5AC539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339" y="89116"/>
            <a:ext cx="6968359" cy="34949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4AF1A9-D23A-F025-8BA7-C014698ADD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14" r="11493" b="6937"/>
          <a:stretch>
            <a:fillRect/>
          </a:stretch>
        </p:blipFill>
        <p:spPr>
          <a:xfrm>
            <a:off x="1872718" y="3730950"/>
            <a:ext cx="6836980" cy="31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05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0298" y="-47296"/>
            <a:ext cx="7704667" cy="793530"/>
          </a:xfrm>
        </p:spPr>
        <p:txBody>
          <a:bodyPr/>
          <a:lstStyle/>
          <a:p>
            <a:r>
              <a:rPr lang="en-IN" b="1" dirty="0"/>
              <a:t>Future Scope</a:t>
            </a:r>
            <a:endParaRPr b="1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FBDFDA3-C879-25D1-46A5-83775C204D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9839328"/>
              </p:ext>
            </p:extLst>
          </p:nvPr>
        </p:nvGraphicFramePr>
        <p:xfrm>
          <a:off x="1290521" y="1012373"/>
          <a:ext cx="7853479" cy="5180101"/>
        </p:xfrm>
        <a:graphic>
          <a:graphicData uri="http://schemas.openxmlformats.org/drawingml/2006/table">
            <a:tbl>
              <a:tblPr/>
              <a:tblGrid>
                <a:gridCol w="2707070">
                  <a:extLst>
                    <a:ext uri="{9D8B030D-6E8A-4147-A177-3AD203B41FA5}">
                      <a16:colId xmlns:a16="http://schemas.microsoft.com/office/drawing/2014/main" val="2325030906"/>
                    </a:ext>
                  </a:extLst>
                </a:gridCol>
                <a:gridCol w="2707070">
                  <a:extLst>
                    <a:ext uri="{9D8B030D-6E8A-4147-A177-3AD203B41FA5}">
                      <a16:colId xmlns:a16="http://schemas.microsoft.com/office/drawing/2014/main" val="701353557"/>
                    </a:ext>
                  </a:extLst>
                </a:gridCol>
                <a:gridCol w="2439339">
                  <a:extLst>
                    <a:ext uri="{9D8B030D-6E8A-4147-A177-3AD203B41FA5}">
                      <a16:colId xmlns:a16="http://schemas.microsoft.com/office/drawing/2014/main" val="2994970604"/>
                    </a:ext>
                  </a:extLst>
                </a:gridCol>
              </a:tblGrid>
              <a:tr h="5047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Category</a:t>
                      </a:r>
                      <a:endParaRPr lang="en-IN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Enhancement</a:t>
                      </a:r>
                      <a:endParaRPr lang="en-IN" sz="1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Core Focus</a:t>
                      </a:r>
                      <a:endParaRPr lang="en-IN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51264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1442262"/>
                  </a:ext>
                </a:extLst>
              </a:tr>
              <a:tr h="98289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Prediction</a:t>
                      </a:r>
                      <a:endParaRPr lang="en-IN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AI occupancy forecasting</a:t>
                      </a:r>
                      <a:endParaRPr lang="en-IN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Use historical data to predict future availability.</a:t>
                      </a:r>
                    </a:p>
                  </a:txBody>
                  <a:tcPr marL="51264" marR="51264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1123236"/>
                  </a:ext>
                </a:extLst>
              </a:tr>
              <a:tr h="98289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Scale</a:t>
                      </a:r>
                      <a:endParaRPr lang="en-IN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Multi-city expansion</a:t>
                      </a:r>
                      <a:endParaRPr lang="en-IN" sz="1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Roll out the system beyond the pilot region.</a:t>
                      </a:r>
                    </a:p>
                  </a:txBody>
                  <a:tcPr marL="51264" marR="51264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505087"/>
                  </a:ext>
                </a:extLst>
              </a:tr>
              <a:tr h="98289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Automation</a:t>
                      </a:r>
                      <a:endParaRPr lang="en-IN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IoT </a:t>
                      </a:r>
                      <a:r>
                        <a:rPr lang="en-IN" sz="1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sensor integration</a:t>
                      </a:r>
                      <a:endParaRPr lang="en-IN" sz="1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Fully automated, hardware-based spot detection.</a:t>
                      </a:r>
                    </a:p>
                  </a:txBody>
                  <a:tcPr marL="51264" marR="51264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6851451"/>
                  </a:ext>
                </a:extLst>
              </a:tr>
              <a:tr h="7438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E-Mobility</a:t>
                      </a:r>
                      <a:endParaRPr lang="en-IN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EV charger locator/booking</a:t>
                      </a:r>
                      <a:endParaRPr lang="en-IN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Integrate with electric vehicle infrastructure.</a:t>
                      </a:r>
                    </a:p>
                  </a:txBody>
                  <a:tcPr marL="51264" marR="51264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0583502"/>
                  </a:ext>
                </a:extLst>
              </a:tr>
              <a:tr h="98289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Retention</a:t>
                      </a:r>
                      <a:endParaRPr lang="en-IN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User loyalty program</a:t>
                      </a:r>
                      <a:endParaRPr lang="en-IN" sz="1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1264" marR="64080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Gamify frequent parking with rewards/discounts.</a:t>
                      </a:r>
                    </a:p>
                  </a:txBody>
                  <a:tcPr marL="51264" marR="51264" marT="85440" marB="85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997184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B9F8A1-02D0-0AFD-F110-0A22A7BEC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8593" y="798786"/>
            <a:ext cx="6900041" cy="59052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 err="1"/>
              <a:t>ParkZen</a:t>
            </a:r>
            <a:r>
              <a:rPr lang="en-US" sz="3200" b="1" dirty="0"/>
              <a:t>: Smart. Seamless. Scalable.</a:t>
            </a:r>
          </a:p>
          <a:p>
            <a:r>
              <a:rPr lang="en-US" b="1" dirty="0"/>
              <a:t>Urban Solution:</a:t>
            </a:r>
            <a:r>
              <a:rPr lang="en-US" dirty="0"/>
              <a:t> Tackling modern parking challenges with an intuitive, end-to-end digital platform.</a:t>
            </a:r>
          </a:p>
          <a:p>
            <a:r>
              <a:rPr lang="en-US" b="1" dirty="0"/>
              <a:t>User Centric:</a:t>
            </a:r>
            <a:r>
              <a:rPr lang="en-US" dirty="0"/>
              <a:t> Eliminating the stress of searching for spots through real-time availability and 1-tap booking.</a:t>
            </a:r>
          </a:p>
          <a:p>
            <a:r>
              <a:rPr lang="en-US" b="1" dirty="0"/>
              <a:t>Owner Empowered:</a:t>
            </a:r>
            <a:r>
              <a:rPr lang="en-US" dirty="0"/>
              <a:t> Transforming parking lots into data-driven assets with advanced analytics and management tools.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6216" y="136633"/>
            <a:ext cx="7704667" cy="1311167"/>
          </a:xfrm>
        </p:spPr>
        <p:txBody>
          <a:bodyPr/>
          <a:lstStyle/>
          <a:p>
            <a:r>
              <a:rPr b="1" dirty="0"/>
              <a:t>Thank You</a:t>
            </a:r>
            <a:r>
              <a:rPr lang="en-US" b="1" dirty="0"/>
              <a:t>!!</a:t>
            </a:r>
            <a:endParaRPr b="1" dirty="0"/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8568CB37-ABF4-FD5D-821F-A435DEC9AF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2499" y="792216"/>
            <a:ext cx="5372100" cy="42100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A00560-3157-522B-4394-E8665F3114AB}"/>
              </a:ext>
            </a:extLst>
          </p:cNvPr>
          <p:cNvSpPr txBox="1"/>
          <p:nvPr/>
        </p:nvSpPr>
        <p:spPr>
          <a:xfrm>
            <a:off x="1240221" y="4359900"/>
            <a:ext cx="73257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/>
              <a:t>https://github.com/chandanavadathala/ParkZen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8BB434"/>
      </a:accent1>
      <a:accent2>
        <a:srgbClr val="33A583"/>
      </a:accent2>
      <a:accent3>
        <a:srgbClr val="3594B4"/>
      </a:accent3>
      <a:accent4>
        <a:srgbClr val="6063B4"/>
      </a:accent4>
      <a:accent5>
        <a:srgbClr val="D35731"/>
      </a:accent5>
      <a:accent6>
        <a:srgbClr val="EBAC4B"/>
      </a:accent6>
      <a:hlink>
        <a:srgbClr val="65AD30"/>
      </a:hlink>
      <a:folHlink>
        <a:srgbClr val="8ED25B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EBEC8F79-A447-43FC-8E81-85E8468AF3F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Parallax</Template>
  <TotalTime>822</TotalTime>
  <Words>400</Words>
  <Application>Microsoft Office PowerPoint</Application>
  <PresentationFormat>On-screen Show (4:3)</PresentationFormat>
  <Paragraphs>67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Corbel</vt:lpstr>
      <vt:lpstr>Google Sans Text</vt:lpstr>
      <vt:lpstr>Parallax</vt:lpstr>
      <vt:lpstr>PowerPoint Presentation</vt:lpstr>
      <vt:lpstr>Meet the Team</vt:lpstr>
      <vt:lpstr>The Parking Crisis</vt:lpstr>
      <vt:lpstr>The Mission of ParkZen</vt:lpstr>
      <vt:lpstr>PowerPoint Presentation</vt:lpstr>
      <vt:lpstr>Our Technology Stack</vt:lpstr>
      <vt:lpstr>The ParkZen AI Ecosystem</vt:lpstr>
      <vt:lpstr>Screenshots of the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Future Scope</vt:lpstr>
      <vt:lpstr>PowerPoint Presentation</vt:lpstr>
      <vt:lpstr>Thank You!!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Chandana Vadathala</cp:lastModifiedBy>
  <cp:revision>1</cp:revision>
  <dcterms:created xsi:type="dcterms:W3CDTF">2013-01-27T09:14:16Z</dcterms:created>
  <dcterms:modified xsi:type="dcterms:W3CDTF">2026-03-26T13:25:55Z</dcterms:modified>
  <cp:category/>
</cp:coreProperties>
</file>